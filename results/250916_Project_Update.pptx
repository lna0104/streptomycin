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72" r:id="rId5"/>
    <p:sldId id="387" r:id="rId6"/>
    <p:sldId id="388" r:id="rId7"/>
    <p:sldId id="392" r:id="rId8"/>
    <p:sldId id="389" r:id="rId9"/>
    <p:sldId id="390" r:id="rId10"/>
    <p:sldId id="391" r:id="rId11"/>
    <p:sldId id="383" r:id="rId12"/>
    <p:sldId id="385" r:id="rId13"/>
    <p:sldId id="384" r:id="rId14"/>
    <p:sldId id="3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D7D1CC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6" autoAdjust="0"/>
    <p:restoredTop sz="95304" autoAdjust="0"/>
  </p:normalViewPr>
  <p:slideViewPr>
    <p:cSldViewPr showGuides="1">
      <p:cViewPr varScale="1">
        <p:scale>
          <a:sx n="120" d="100"/>
          <a:sy n="120" d="100"/>
        </p:scale>
        <p:origin x="2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18/9/2025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18/9/2025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microbiol2016160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72F-7ABE-4831-9CF2-9DF3DB24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1988840"/>
            <a:ext cx="5112568" cy="1296144"/>
          </a:xfrm>
        </p:spPr>
        <p:txBody>
          <a:bodyPr anchor="t">
            <a:normAutofit/>
          </a:bodyPr>
          <a:lstStyle/>
          <a:p>
            <a:r>
              <a:rPr lang="en-AU" dirty="0"/>
              <a:t>Project Update: </a:t>
            </a:r>
            <a:br>
              <a:rPr lang="en-AU" dirty="0"/>
            </a:br>
            <a:r>
              <a:rPr lang="en-AU" dirty="0" err="1"/>
              <a:t>rrs</a:t>
            </a:r>
            <a:r>
              <a:rPr lang="en-AU" dirty="0"/>
              <a:t> gene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C0B7-EEDF-423E-8CF2-4BD67484F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3485" y="3515866"/>
            <a:ext cx="5116831" cy="246221"/>
          </a:xfrm>
        </p:spPr>
        <p:txBody>
          <a:bodyPr wrap="square" anchor="t">
            <a:normAutofit/>
          </a:bodyPr>
          <a:lstStyle/>
          <a:p>
            <a:r>
              <a:rPr lang="en-AU" dirty="0"/>
              <a:t>Le Na Ngo</a:t>
            </a:r>
          </a:p>
        </p:txBody>
      </p:sp>
    </p:spTree>
    <p:extLst>
      <p:ext uri="{BB962C8B-B14F-4D97-AF65-F5344CB8AC3E}">
        <p14:creationId xmlns:p14="http://schemas.microsoft.com/office/powerpoint/2010/main" val="202912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0A81-DA4F-4A55-6CE5-6BD01616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5: Processing and filtering of raw output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</a:t>
            </a:fld>
            <a:endParaRPr lang="en-AU" sz="7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F6E336-F364-07BD-FBA7-6195938AD0B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18561814"/>
              </p:ext>
            </p:extLst>
          </p:nvPr>
        </p:nvGraphicFramePr>
        <p:xfrm>
          <a:off x="838200" y="1825821"/>
          <a:ext cx="10045800" cy="4556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74300">
                  <a:extLst>
                    <a:ext uri="{9D8B030D-6E8A-4147-A177-3AD203B41FA5}">
                      <a16:colId xmlns:a16="http://schemas.microsoft.com/office/drawing/2014/main" val="3490487315"/>
                    </a:ext>
                  </a:extLst>
                </a:gridCol>
                <a:gridCol w="1674300">
                  <a:extLst>
                    <a:ext uri="{9D8B030D-6E8A-4147-A177-3AD203B41FA5}">
                      <a16:colId xmlns:a16="http://schemas.microsoft.com/office/drawing/2014/main" val="3911209021"/>
                    </a:ext>
                  </a:extLst>
                </a:gridCol>
                <a:gridCol w="1714164">
                  <a:extLst>
                    <a:ext uri="{9D8B030D-6E8A-4147-A177-3AD203B41FA5}">
                      <a16:colId xmlns:a16="http://schemas.microsoft.com/office/drawing/2014/main" val="2625023382"/>
                    </a:ext>
                  </a:extLst>
                </a:gridCol>
                <a:gridCol w="1634436">
                  <a:extLst>
                    <a:ext uri="{9D8B030D-6E8A-4147-A177-3AD203B41FA5}">
                      <a16:colId xmlns:a16="http://schemas.microsoft.com/office/drawing/2014/main" val="2116932353"/>
                    </a:ext>
                  </a:extLst>
                </a:gridCol>
                <a:gridCol w="1674300">
                  <a:extLst>
                    <a:ext uri="{9D8B030D-6E8A-4147-A177-3AD203B41FA5}">
                      <a16:colId xmlns:a16="http://schemas.microsoft.com/office/drawing/2014/main" val="2573983644"/>
                    </a:ext>
                  </a:extLst>
                </a:gridCol>
                <a:gridCol w="1674300">
                  <a:extLst>
                    <a:ext uri="{9D8B030D-6E8A-4147-A177-3AD203B41FA5}">
                      <a16:colId xmlns:a16="http://schemas.microsoft.com/office/drawing/2014/main" val="220412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raw_output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(align_2000)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/>
                        <a:t>filtered_output</a:t>
                      </a:r>
                      <a:r>
                        <a:rPr lang="en-US" sz="1400" b="0" dirty="0"/>
                        <a:t> (dist_190)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rgbClr val="FF0000"/>
                          </a:solidFill>
                        </a:rPr>
                        <a:t>filtered_output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</a:rPr>
                        <a:t> (dist_190 + align_2000)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6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min_seq_length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4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min_align_score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76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max_core_dist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6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Total number of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697748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126834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121472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113787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17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rows (contain NA values)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52611 (</a:t>
                      </a:r>
                      <a:r>
                        <a:rPr lang="en-US" sz="1400" dirty="0" err="1"/>
                        <a:t>Nt_target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7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distinct 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13116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36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 of genomes with more than one </a:t>
                      </a:r>
                      <a:r>
                        <a:rPr lang="en-US" sz="1400" dirty="0" err="1"/>
                        <a:t>rrs</a:t>
                      </a:r>
                      <a:r>
                        <a:rPr lang="en-US" sz="1400" dirty="0"/>
                        <a:t>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93858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60C915E-945F-4A13-D2E6-79690CCB37B6}"/>
              </a:ext>
            </a:extLst>
          </p:cNvPr>
          <p:cNvSpPr txBox="1"/>
          <p:nvPr/>
        </p:nvSpPr>
        <p:spPr>
          <a:xfrm>
            <a:off x="829340" y="1375530"/>
            <a:ext cx="263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Selected_sequence</a:t>
            </a:r>
            <a:r>
              <a:rPr lang="en-US" sz="1400" dirty="0">
                <a:solidFill>
                  <a:schemeClr val="accent1"/>
                </a:solidFill>
              </a:rPr>
              <a:t>: 510-920</a:t>
            </a:r>
          </a:p>
        </p:txBody>
      </p:sp>
    </p:spTree>
    <p:extLst>
      <p:ext uri="{BB962C8B-B14F-4D97-AF65-F5344CB8AC3E}">
        <p14:creationId xmlns:p14="http://schemas.microsoft.com/office/powerpoint/2010/main" val="367391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CAAF16-9DEE-583F-423A-96E2615C768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295400" y="1905000"/>
            <a:ext cx="9144000" cy="3657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4E3AFF-C2CE-66FD-F81A-D015891B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F0F0A-4AF5-B02C-D538-683BB365E8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7EA5C-F538-9AD8-CC30-8A12BE8129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05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207F8-10E6-A857-4476-3712387F2CC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r="11664"/>
          <a:stretch>
            <a:fillRect/>
          </a:stretch>
        </p:blipFill>
        <p:spPr>
          <a:xfrm>
            <a:off x="629063" y="1602295"/>
            <a:ext cx="5286403" cy="414216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8FBFBCE-E744-81C0-366A-D3EFDA91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A42C5-B6D9-2426-E1DB-DF58859167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612F1-B1EB-054A-42E8-1FFECD941F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A1BEDA-35F1-7C75-DB42-943AA4BE9E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80"/>
          <a:stretch>
            <a:fillRect/>
          </a:stretch>
        </p:blipFill>
        <p:spPr>
          <a:xfrm>
            <a:off x="6096000" y="2462172"/>
            <a:ext cx="5559932" cy="238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2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E25887-A65A-2CC9-17DF-EF0A7695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8CC96-1FA5-0311-9EAB-3D5BAD41151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3AC84-785C-DBAA-017A-A11DC3F562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B245DA2-0C47-31B4-1F59-DA95C3FC5A9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000250" y="1449388"/>
            <a:ext cx="6967537" cy="4645025"/>
          </a:xfrm>
        </p:spPr>
      </p:pic>
    </p:spTree>
    <p:extLst>
      <p:ext uri="{BB962C8B-B14F-4D97-AF65-F5344CB8AC3E}">
        <p14:creationId xmlns:p14="http://schemas.microsoft.com/office/powerpoint/2010/main" val="180322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EBD5F-0B2B-0D21-E8BA-68876B21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452CB-4F3B-818D-D0F5-F2560DBFCC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39E17-BC9B-F9F5-641E-F8A972EA2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A6D1339-EF44-E934-81CF-8D2CE214EEA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161506" y="1449388"/>
            <a:ext cx="4645025" cy="4645025"/>
          </a:xfrm>
        </p:spPr>
      </p:pic>
    </p:spTree>
    <p:extLst>
      <p:ext uri="{BB962C8B-B14F-4D97-AF65-F5344CB8AC3E}">
        <p14:creationId xmlns:p14="http://schemas.microsoft.com/office/powerpoint/2010/main" val="135660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01A5CB-9B7D-0C6A-D658-160C17A563E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525279" y="1062407"/>
            <a:ext cx="8994358" cy="513963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7BC5919-D567-3292-7FC2-9E8F01FC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32D1A-F84D-3C32-E2F9-555A330EB96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D4ED7-47FC-7DC6-22CD-D46F2D47AC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  <p:pic>
        <p:nvPicPr>
          <p:cNvPr id="9" name="Picture 8" descr="A diagram of a number&#10;&#10;AI-generated content may be incorrect.">
            <a:extLst>
              <a:ext uri="{FF2B5EF4-FFF2-40B4-BE49-F238E27FC236}">
                <a16:creationId xmlns:a16="http://schemas.microsoft.com/office/drawing/2014/main" id="{4B5678CD-01F3-3F73-5D64-729C3EEE6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71800"/>
            <a:ext cx="22701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0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8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7EF86B-2815-1207-08CD-3CC5E790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Content Placeholder 9" descr="A close-up of a diagram&#10;&#10;AI-generated content may be incorrect.">
            <a:extLst>
              <a:ext uri="{FF2B5EF4-FFF2-40B4-BE49-F238E27FC236}">
                <a16:creationId xmlns:a16="http://schemas.microsoft.com/office/drawing/2014/main" id="{A926E75B-77F3-1040-DDA4-63CDD52B021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43000" y="2057400"/>
            <a:ext cx="9550400" cy="2362200"/>
          </a:xfrm>
        </p:spPr>
      </p:pic>
    </p:spTree>
    <p:extLst>
      <p:ext uri="{BB962C8B-B14F-4D97-AF65-F5344CB8AC3E}">
        <p14:creationId xmlns:p14="http://schemas.microsoft.com/office/powerpoint/2010/main" val="29238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DB52-865C-14DE-038A-EA43BB13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06A8-385D-05CF-0027-E2340574939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9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4C891-7DCD-75E7-EE9B-CB4E196A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4315E-2FFF-35F3-D75C-DACCE715B3D9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695326" y="1448768"/>
            <a:ext cx="9794348" cy="2254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ribosomal RNA genes reflects the bacterium’s life history strategy: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Resource abundance – copiotroph =&gt; rapid bacterial growth =&gt; Increase ribosome content = multiple </a:t>
            </a:r>
            <a:r>
              <a:rPr lang="en-US" dirty="0" err="1"/>
              <a:t>rrn</a:t>
            </a:r>
            <a:r>
              <a:rPr lang="en-US" dirty="0"/>
              <a:t> copies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Resource scarcity – oligotroph =&gt; fewer </a:t>
            </a:r>
            <a:r>
              <a:rPr lang="en-US" dirty="0" err="1"/>
              <a:t>rrn</a:t>
            </a:r>
            <a:r>
              <a:rPr lang="en-US" dirty="0"/>
              <a:t> copies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DEE2BD86-C467-DF2D-B81D-5AC4405D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95600"/>
            <a:ext cx="7772400" cy="36106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8E6CF2-4D87-CA16-6AA1-41854A441926}"/>
              </a:ext>
            </a:extLst>
          </p:cNvPr>
          <p:cNvSpPr txBox="1"/>
          <p:nvPr/>
        </p:nvSpPr>
        <p:spPr>
          <a:xfrm>
            <a:off x="4649086" y="6526800"/>
            <a:ext cx="8838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+mj-lt"/>
                <a:hlinkClick r:id="rId3"/>
              </a:rPr>
              <a:t>Exploiting rRNA operon copy number to investigate bacterial reproductive strategies </a:t>
            </a:r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181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CD9C-7ABD-373E-1EA8-D37E31FF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7E829-DF3A-9387-D25D-A5EDBFB722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10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762DEC-1CD9-028A-503D-0A96EDD9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rrnDB</a:t>
            </a:r>
            <a:r>
              <a:rPr lang="en-US" dirty="0"/>
              <a:t>: The Ribosomal RNA Database</a:t>
            </a:r>
          </a:p>
        </p:txBody>
      </p:sp>
      <p:pic>
        <p:nvPicPr>
          <p:cNvPr id="12" name="Content Placeholder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4E611383-8638-B971-1D00-A8331E0D4AC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597494"/>
            <a:ext cx="9577388" cy="4348813"/>
          </a:xfrm>
        </p:spPr>
      </p:pic>
    </p:spTree>
    <p:extLst>
      <p:ext uri="{BB962C8B-B14F-4D97-AF65-F5344CB8AC3E}">
        <p14:creationId xmlns:p14="http://schemas.microsoft.com/office/powerpoint/2010/main" val="428953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17ED-BB1D-276E-713B-A104785A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9AEB6-4847-4DE7-B801-AB65FF2C0AE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11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F22A10-DC18-9763-581A-EB12AD10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rrnDB</a:t>
            </a:r>
            <a:r>
              <a:rPr lang="en-US" dirty="0"/>
              <a:t>: Records Curation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21F7B-BC93-AAEB-AD8D-927664A6DA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0" dirty="0"/>
              <a:t>48077 Bacteria records representing 12138 species</a:t>
            </a:r>
          </a:p>
          <a:p>
            <a:endParaRPr lang="en-US" dirty="0"/>
          </a:p>
        </p:txBody>
      </p:sp>
      <p:pic>
        <p:nvPicPr>
          <p:cNvPr id="7" name="Picture 6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C766F0BD-8035-C6EA-FE16-BD7443DD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6" y="1752600"/>
            <a:ext cx="11907107" cy="165945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6AF5C7-AD1E-8F07-B77B-0C95F2688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81400"/>
            <a:ext cx="4510235" cy="2677730"/>
          </a:xfrm>
          <a:prstGeom prst="rect">
            <a:avLst/>
          </a:prstGeom>
        </p:spPr>
      </p:pic>
      <p:pic>
        <p:nvPicPr>
          <p:cNvPr id="9" name="Picture 8" descr="A graph of a gene count&#10;&#10;AI-generated content may be incorrect.">
            <a:extLst>
              <a:ext uri="{FF2B5EF4-FFF2-40B4-BE49-F238E27FC236}">
                <a16:creationId xmlns:a16="http://schemas.microsoft.com/office/drawing/2014/main" id="{2DB73DBB-33BD-85AB-C351-98B139913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610" y="3590859"/>
            <a:ext cx="4585253" cy="282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6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23776</TotalTime>
  <Words>220</Words>
  <Application>Microsoft Macintosh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DM Sans</vt:lpstr>
      <vt:lpstr>Gotham Book</vt:lpstr>
      <vt:lpstr>Gotham Medium</vt:lpstr>
      <vt:lpstr>University of Queensland</vt:lpstr>
      <vt:lpstr>Project Update:  rrs gene</vt:lpstr>
      <vt:lpstr>Step 5: Processing and filtering of raw output </vt:lpstr>
      <vt:lpstr>PowerPoint Presentation</vt:lpstr>
      <vt:lpstr>Summary</vt:lpstr>
      <vt:lpstr>PowerPoint Presentation</vt:lpstr>
      <vt:lpstr>PowerPoint Presentation</vt:lpstr>
      <vt:lpstr>PowerPoint Presentation</vt:lpstr>
      <vt:lpstr>16S rRNA (rrs) </vt:lpstr>
      <vt:lpstr>16S rRNA (rrs) </vt:lpstr>
      <vt:lpstr>rrnDB: The Ribosomal RNA Database</vt:lpstr>
      <vt:lpstr>rrnDB: Records Curation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Na Ngo</dc:creator>
  <cp:lastModifiedBy>Le Na Ngo</cp:lastModifiedBy>
  <cp:revision>16</cp:revision>
  <dcterms:created xsi:type="dcterms:W3CDTF">2025-04-21T08:02:23Z</dcterms:created>
  <dcterms:modified xsi:type="dcterms:W3CDTF">2025-09-18T05:31:07Z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