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72" r:id="rId5"/>
    <p:sldId id="383" r:id="rId6"/>
    <p:sldId id="384" r:id="rId7"/>
    <p:sldId id="386" r:id="rId8"/>
    <p:sldId id="387" r:id="rId9"/>
    <p:sldId id="391" r:id="rId10"/>
    <p:sldId id="385" r:id="rId11"/>
    <p:sldId id="382" r:id="rId12"/>
    <p:sldId id="380" r:id="rId13"/>
    <p:sldId id="388" r:id="rId14"/>
    <p:sldId id="393" r:id="rId15"/>
    <p:sldId id="394" r:id="rId16"/>
    <p:sldId id="395" r:id="rId17"/>
    <p:sldId id="396" r:id="rId18"/>
    <p:sldId id="390" r:id="rId19"/>
    <p:sldId id="3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D7D1CC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25" autoAdjust="0"/>
    <p:restoredTop sz="95511" autoAdjust="0"/>
  </p:normalViewPr>
  <p:slideViewPr>
    <p:cSldViewPr showGuides="1">
      <p:cViewPr>
        <p:scale>
          <a:sx n="106" d="100"/>
          <a:sy n="106" d="100"/>
        </p:scale>
        <p:origin x="1008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16/8/2025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16/8/2025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72F-7ABE-4831-9CF2-9DF3DB24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1988840"/>
            <a:ext cx="5112568" cy="1296144"/>
          </a:xfrm>
        </p:spPr>
        <p:txBody>
          <a:bodyPr anchor="t">
            <a:normAutofit/>
          </a:bodyPr>
          <a:lstStyle/>
          <a:p>
            <a:r>
              <a:rPr lang="en-AU" dirty="0"/>
              <a:t>Project Update: </a:t>
            </a:r>
            <a:br>
              <a:rPr lang="en-AU" dirty="0"/>
            </a:br>
            <a:r>
              <a:rPr lang="en-AU" dirty="0" err="1"/>
              <a:t>rrs</a:t>
            </a:r>
            <a:r>
              <a:rPr lang="en-AU" dirty="0"/>
              <a:t> gene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C0B7-EEDF-423E-8CF2-4BD67484F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3485" y="3515866"/>
            <a:ext cx="5116831" cy="246221"/>
          </a:xfrm>
        </p:spPr>
        <p:txBody>
          <a:bodyPr wrap="square" anchor="t">
            <a:normAutofit/>
          </a:bodyPr>
          <a:lstStyle/>
          <a:p>
            <a:r>
              <a:rPr lang="en-AU" dirty="0"/>
              <a:t>Le Na Ngo</a:t>
            </a:r>
          </a:p>
        </p:txBody>
      </p:sp>
    </p:spTree>
    <p:extLst>
      <p:ext uri="{BB962C8B-B14F-4D97-AF65-F5344CB8AC3E}">
        <p14:creationId xmlns:p14="http://schemas.microsoft.com/office/powerpoint/2010/main" val="202912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0A81-DA4F-4A55-6CE5-6BD01616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5: Processing and filtering of raw output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</a:t>
            </a:fld>
            <a:endParaRPr lang="en-AU" sz="7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F6E336-F364-07BD-FBA7-6195938AD0B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57119828"/>
              </p:ext>
            </p:extLst>
          </p:nvPr>
        </p:nvGraphicFramePr>
        <p:xfrm>
          <a:off x="838200" y="1825821"/>
          <a:ext cx="10045800" cy="4556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74300">
                  <a:extLst>
                    <a:ext uri="{9D8B030D-6E8A-4147-A177-3AD203B41FA5}">
                      <a16:colId xmlns:a16="http://schemas.microsoft.com/office/drawing/2014/main" val="3490487315"/>
                    </a:ext>
                  </a:extLst>
                </a:gridCol>
                <a:gridCol w="1674300">
                  <a:extLst>
                    <a:ext uri="{9D8B030D-6E8A-4147-A177-3AD203B41FA5}">
                      <a16:colId xmlns:a16="http://schemas.microsoft.com/office/drawing/2014/main" val="3911209021"/>
                    </a:ext>
                  </a:extLst>
                </a:gridCol>
                <a:gridCol w="1714164">
                  <a:extLst>
                    <a:ext uri="{9D8B030D-6E8A-4147-A177-3AD203B41FA5}">
                      <a16:colId xmlns:a16="http://schemas.microsoft.com/office/drawing/2014/main" val="2625023382"/>
                    </a:ext>
                  </a:extLst>
                </a:gridCol>
                <a:gridCol w="1634436">
                  <a:extLst>
                    <a:ext uri="{9D8B030D-6E8A-4147-A177-3AD203B41FA5}">
                      <a16:colId xmlns:a16="http://schemas.microsoft.com/office/drawing/2014/main" val="2116932353"/>
                    </a:ext>
                  </a:extLst>
                </a:gridCol>
                <a:gridCol w="1674300">
                  <a:extLst>
                    <a:ext uri="{9D8B030D-6E8A-4147-A177-3AD203B41FA5}">
                      <a16:colId xmlns:a16="http://schemas.microsoft.com/office/drawing/2014/main" val="2573983644"/>
                    </a:ext>
                  </a:extLst>
                </a:gridCol>
                <a:gridCol w="1674300">
                  <a:extLst>
                    <a:ext uri="{9D8B030D-6E8A-4147-A177-3AD203B41FA5}">
                      <a16:colId xmlns:a16="http://schemas.microsoft.com/office/drawing/2014/main" val="220412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raw_output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(align_2000)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(dist_190)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(dist_190 + align_2000)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6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min_seq_length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4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min_align_score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76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max_core_dist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697748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126834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121472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113787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7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rows (contain NA values)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52611 (</a:t>
                      </a:r>
                      <a:r>
                        <a:rPr lang="en-US" sz="1400" dirty="0" err="1"/>
                        <a:t>Nt_target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7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distinct 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13116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36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genomes with more than one </a:t>
                      </a:r>
                      <a:r>
                        <a:rPr lang="en-US" sz="1400" dirty="0" err="1"/>
                        <a:t>rrs</a:t>
                      </a:r>
                      <a:r>
                        <a:rPr lang="en-US" sz="1400" dirty="0"/>
                        <a:t>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93858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60C915E-945F-4A13-D2E6-79690CCB37B6}"/>
              </a:ext>
            </a:extLst>
          </p:cNvPr>
          <p:cNvSpPr txBox="1"/>
          <p:nvPr/>
        </p:nvSpPr>
        <p:spPr>
          <a:xfrm>
            <a:off x="829340" y="1375530"/>
            <a:ext cx="263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Selected_sequence</a:t>
            </a:r>
            <a:r>
              <a:rPr lang="en-US" sz="1400" dirty="0">
                <a:solidFill>
                  <a:schemeClr val="accent1"/>
                </a:solidFill>
              </a:rPr>
              <a:t>: 510-920</a:t>
            </a:r>
          </a:p>
        </p:txBody>
      </p:sp>
    </p:spTree>
    <p:extLst>
      <p:ext uri="{BB962C8B-B14F-4D97-AF65-F5344CB8AC3E}">
        <p14:creationId xmlns:p14="http://schemas.microsoft.com/office/powerpoint/2010/main" val="29238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A392B8-D1D0-D6E4-8403-9C7FE5E9528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85800" y="1524000"/>
            <a:ext cx="10287000" cy="41148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C642A-6B1B-254D-F397-36E8F5EF9C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0D44276-147E-B534-B810-4DC58063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/>
          <a:p>
            <a:r>
              <a:rPr lang="en-US" sz="3000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311282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B465D9-2E59-D1D2-EF0B-D1CBB161728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6" y="1513523"/>
            <a:ext cx="10217943" cy="408717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5449AFE-966E-A8A8-A178-8B478987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Case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D518B-3B78-E4A7-0E18-D998BABFCB7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724D5-0DBD-E8DA-02EE-04E8929A0C4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69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035B8C-2678-BEDA-F626-09E88682232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7" y="1524000"/>
            <a:ext cx="10126264" cy="405050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DCC12-2178-D110-956B-BC042D8FF89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DADC2-FCFB-5B2D-3144-380240CD6FF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B67C7FF-1E61-FF6C-1CC1-34EA3F44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Case 3</a:t>
            </a:r>
          </a:p>
        </p:txBody>
      </p:sp>
    </p:spTree>
    <p:extLst>
      <p:ext uri="{BB962C8B-B14F-4D97-AF65-F5344CB8AC3E}">
        <p14:creationId xmlns:p14="http://schemas.microsoft.com/office/powerpoint/2010/main" val="324116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41EFE9-5D07-E8CA-5755-E72207F3D32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09503" y="1562100"/>
            <a:ext cx="10382250" cy="41529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7BADE9-E643-F681-D82A-92246FAB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Case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0543D-952D-958E-A05D-7ABB0162479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A7AE9-B102-E19E-9AD8-19114CD188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353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BF09C7-4071-A7F2-6A61-240428CD3EE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59768" y="1460984"/>
            <a:ext cx="5307632" cy="265381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F91D4-F34A-F7EF-D7D0-99174D0C85D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BCBAF-D4E9-BDB9-E10F-15BDB88A8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447800"/>
            <a:ext cx="5476798" cy="2738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4E23C-A295-FCE1-5BB6-4758CE5347C8}"/>
              </a:ext>
            </a:extLst>
          </p:cNvPr>
          <p:cNvSpPr txBox="1"/>
          <p:nvPr/>
        </p:nvSpPr>
        <p:spPr>
          <a:xfrm>
            <a:off x="674061" y="106680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D0131-463F-130B-1006-8E201E53806A}"/>
              </a:ext>
            </a:extLst>
          </p:cNvPr>
          <p:cNvSpPr txBox="1"/>
          <p:nvPr/>
        </p:nvSpPr>
        <p:spPr>
          <a:xfrm>
            <a:off x="6097772" y="106680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45C60D-0262-ADF5-8E96-1963A990DF0B}"/>
              </a:ext>
            </a:extLst>
          </p:cNvPr>
          <p:cNvSpPr txBox="1"/>
          <p:nvPr/>
        </p:nvSpPr>
        <p:spPr>
          <a:xfrm>
            <a:off x="695326" y="381000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Case 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58E980-C003-68A3-40C8-16348CCA8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14" y="4190007"/>
            <a:ext cx="5335985" cy="2667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181959-A87E-454B-1FEF-0C47D2B5CA0D}"/>
              </a:ext>
            </a:extLst>
          </p:cNvPr>
          <p:cNvSpPr txBox="1"/>
          <p:nvPr/>
        </p:nvSpPr>
        <p:spPr>
          <a:xfrm>
            <a:off x="6097772" y="374546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Case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BBE7CD-1817-4C6D-2320-D877B070A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076700"/>
            <a:ext cx="5562600" cy="2781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317EA-F89A-8B00-3E64-C144C41CC5E2}"/>
              </a:ext>
            </a:extLst>
          </p:cNvPr>
          <p:cNvSpPr txBox="1"/>
          <p:nvPr/>
        </p:nvSpPr>
        <p:spPr>
          <a:xfrm>
            <a:off x="674061" y="49292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Only include one copy genome!</a:t>
            </a:r>
          </a:p>
        </p:txBody>
      </p:sp>
    </p:spTree>
    <p:extLst>
      <p:ext uri="{BB962C8B-B14F-4D97-AF65-F5344CB8AC3E}">
        <p14:creationId xmlns:p14="http://schemas.microsoft.com/office/powerpoint/2010/main" val="270488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1D04C77-FA73-D0E9-D076-D4EE159B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6: Analysis of results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CE2F696-EC2F-C9D4-0852-22B6770F82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8</a:t>
            </a:fld>
            <a:endParaRPr lang="en-AU" sz="70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10CAEC9-5DB9-B7B4-9776-FF7822DD6C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8</a:t>
            </a:fld>
            <a:endParaRPr lang="en-AU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A6968-6544-CB1B-7BDF-7AA72619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00" y="1346200"/>
            <a:ext cx="7932900" cy="528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5DF52A-F56D-9EE6-D80D-1510741F9331}"/>
              </a:ext>
            </a:extLst>
          </p:cNvPr>
          <p:cNvSpPr txBox="1"/>
          <p:nvPr/>
        </p:nvSpPr>
        <p:spPr>
          <a:xfrm>
            <a:off x="5103628" y="1524000"/>
            <a:ext cx="6097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Predicted intrinsic resistance:</a:t>
            </a:r>
          </a:p>
          <a:p>
            <a:r>
              <a:rPr lang="en-US" sz="1200" dirty="0"/>
              <a:t>    Total number of resistance mutations present across species: 14661</a:t>
            </a:r>
          </a:p>
          <a:p>
            <a:r>
              <a:rPr lang="en-US" sz="1200" dirty="0"/>
              <a:t>    Number of unique mutations present across species: 4</a:t>
            </a:r>
          </a:p>
          <a:p>
            <a:r>
              <a:rPr lang="en-US" sz="1200" dirty="0"/>
              <a:t>    Number of resistant species: 5023</a:t>
            </a:r>
          </a:p>
          <a:p>
            <a:r>
              <a:rPr lang="en-US" sz="1200" dirty="0"/>
              <a:t>    Percentage of resistant species: 30.09%</a:t>
            </a:r>
          </a:p>
          <a:p>
            <a:r>
              <a:rPr lang="en-US" sz="1200" dirty="0"/>
              <a:t>    Number of species with multiple resistance mutations: 3061</a:t>
            </a:r>
          </a:p>
          <a:p>
            <a:r>
              <a:rPr lang="en-US" sz="1200" dirty="0"/>
              <a:t>    Number of species where one </a:t>
            </a:r>
            <a:r>
              <a:rPr lang="en-US" sz="1200" dirty="0" err="1"/>
              <a:t>rrs</a:t>
            </a:r>
            <a:r>
              <a:rPr lang="en-US" sz="1200" dirty="0"/>
              <a:t> copy confers resistance and one does not: 608</a:t>
            </a:r>
          </a:p>
        </p:txBody>
      </p:sp>
    </p:spTree>
    <p:extLst>
      <p:ext uri="{BB962C8B-B14F-4D97-AF65-F5344CB8AC3E}">
        <p14:creationId xmlns:p14="http://schemas.microsoft.com/office/powerpoint/2010/main" val="236001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1D30A-87FA-A3DF-D1E5-72E447E4D4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9</a:t>
            </a:fld>
            <a:endParaRPr lang="en-AU" sz="7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829077-D356-BD6B-1318-FA478F31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5857873" cy="503510"/>
          </a:xfrm>
        </p:spPr>
        <p:txBody>
          <a:bodyPr/>
          <a:lstStyle/>
          <a:p>
            <a:r>
              <a:rPr lang="en-US" sz="3200" dirty="0"/>
              <a:t>Step 6: Analysis of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04F27-A82A-3BE5-CD0C-FA2DF2A9E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00" y="1295400"/>
            <a:ext cx="8009100" cy="5339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F57D80-40C9-F315-BE62-034B5AD88322}"/>
              </a:ext>
            </a:extLst>
          </p:cNvPr>
          <p:cNvSpPr txBox="1"/>
          <p:nvPr/>
        </p:nvSpPr>
        <p:spPr>
          <a:xfrm>
            <a:off x="5029200" y="1586805"/>
            <a:ext cx="6097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Predicted intrinsic resistance:</a:t>
            </a:r>
          </a:p>
          <a:p>
            <a:r>
              <a:rPr lang="en-US" sz="1200" dirty="0"/>
              <a:t>    Total number of resistance mutations present across species: 11709</a:t>
            </a:r>
          </a:p>
          <a:p>
            <a:r>
              <a:rPr lang="en-US" sz="1200" dirty="0"/>
              <a:t>    Number of unique mutations present across species: 4</a:t>
            </a:r>
          </a:p>
          <a:p>
            <a:r>
              <a:rPr lang="en-US" sz="1200" dirty="0"/>
              <a:t>    Number of resistant species: 4125</a:t>
            </a:r>
          </a:p>
          <a:p>
            <a:r>
              <a:rPr lang="en-US" sz="1200" dirty="0"/>
              <a:t>    Percentage of resistant species: 27.69%</a:t>
            </a:r>
          </a:p>
          <a:p>
            <a:r>
              <a:rPr lang="en-US" sz="1200" dirty="0"/>
              <a:t>    Number of species with multiple resistance mutations: 2515</a:t>
            </a:r>
          </a:p>
          <a:p>
            <a:r>
              <a:rPr lang="en-US" sz="1200" dirty="0"/>
              <a:t>    Number of species where one </a:t>
            </a:r>
            <a:r>
              <a:rPr lang="en-US" sz="1200" dirty="0" err="1"/>
              <a:t>rrs</a:t>
            </a:r>
            <a:r>
              <a:rPr lang="en-US" sz="1200" dirty="0"/>
              <a:t> copy confers resistance and one does not: 474</a:t>
            </a:r>
          </a:p>
        </p:txBody>
      </p:sp>
    </p:spTree>
    <p:extLst>
      <p:ext uri="{BB962C8B-B14F-4D97-AF65-F5344CB8AC3E}">
        <p14:creationId xmlns:p14="http://schemas.microsoft.com/office/powerpoint/2010/main" val="357153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EB4157-C0E3-DAF7-CF9A-C7BB4C3CA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10</a:t>
            </a:fld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F6E01-AB36-9887-27E0-DA95C01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924800" cy="52832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B30FBEF-C725-470A-8023-E6C434346FF5}"/>
              </a:ext>
            </a:extLst>
          </p:cNvPr>
          <p:cNvSpPr txBox="1">
            <a:spLocks/>
          </p:cNvSpPr>
          <p:nvPr/>
        </p:nvSpPr>
        <p:spPr>
          <a:xfrm>
            <a:off x="609600" y="685800"/>
            <a:ext cx="5857873" cy="50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Step 6: Analysis of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ECDDC-575E-9AE7-163C-8107204AF82F}"/>
              </a:ext>
            </a:extLst>
          </p:cNvPr>
          <p:cNvSpPr txBox="1"/>
          <p:nvPr/>
        </p:nvSpPr>
        <p:spPr>
          <a:xfrm>
            <a:off x="5027428" y="1600200"/>
            <a:ext cx="6097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Predicted intrinsic resistance:</a:t>
            </a:r>
          </a:p>
          <a:p>
            <a:r>
              <a:rPr lang="en-US" sz="1200" dirty="0"/>
              <a:t>    Total number of resistance mutations present across species: 10343</a:t>
            </a:r>
          </a:p>
          <a:p>
            <a:r>
              <a:rPr lang="en-US" sz="1200" dirty="0"/>
              <a:t>    Number of unique mutations present across species: 4</a:t>
            </a:r>
          </a:p>
          <a:p>
            <a:r>
              <a:rPr lang="en-US" sz="1200" dirty="0"/>
              <a:t>    Number of resistant species: 3581</a:t>
            </a:r>
          </a:p>
          <a:p>
            <a:r>
              <a:rPr lang="en-US" sz="1200" dirty="0"/>
              <a:t>    Percentage of resistant species: 25.62%</a:t>
            </a:r>
          </a:p>
          <a:p>
            <a:r>
              <a:rPr lang="en-US" sz="1200" dirty="0"/>
              <a:t>    Number of species with multiple resistance mutations: 2204</a:t>
            </a:r>
          </a:p>
          <a:p>
            <a:r>
              <a:rPr lang="en-US" sz="1200" dirty="0"/>
              <a:t>    Number of species where one </a:t>
            </a:r>
            <a:r>
              <a:rPr lang="en-US" sz="1200" dirty="0" err="1"/>
              <a:t>rrs</a:t>
            </a:r>
            <a:r>
              <a:rPr lang="en-US" sz="1200" dirty="0"/>
              <a:t> copy confers resistance and one does not: 436</a:t>
            </a:r>
          </a:p>
        </p:txBody>
      </p:sp>
    </p:spTree>
    <p:extLst>
      <p:ext uri="{BB962C8B-B14F-4D97-AF65-F5344CB8AC3E}">
        <p14:creationId xmlns:p14="http://schemas.microsoft.com/office/powerpoint/2010/main" val="164956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627C-C47A-1743-6F32-6F685EA6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1ECBD-C6C1-1D00-B70B-55F0271C77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417D1F-4C51-1D79-68D2-03E6A228072A}"/>
              </a:ext>
            </a:extLst>
          </p:cNvPr>
          <p:cNvSpPr txBox="1">
            <a:spLocks/>
          </p:cNvSpPr>
          <p:nvPr/>
        </p:nvSpPr>
        <p:spPr>
          <a:xfrm>
            <a:off x="609600" y="685800"/>
            <a:ext cx="5857873" cy="50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Step 6: Analysis of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1A3C3-F57F-5AC2-BE55-8F7B6B2D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6619"/>
            <a:ext cx="7772400" cy="518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492DC6-2083-11DA-15A2-0810CB9CF5AA}"/>
              </a:ext>
            </a:extLst>
          </p:cNvPr>
          <p:cNvSpPr txBox="1"/>
          <p:nvPr/>
        </p:nvSpPr>
        <p:spPr>
          <a:xfrm>
            <a:off x="5110796" y="1600200"/>
            <a:ext cx="6097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Predicted intrinsic resistance:</a:t>
            </a:r>
          </a:p>
          <a:p>
            <a:r>
              <a:rPr lang="en-US" sz="1200" dirty="0"/>
              <a:t>    Total number of resistance mutations present across species: 9056</a:t>
            </a:r>
          </a:p>
          <a:p>
            <a:r>
              <a:rPr lang="en-US" sz="1200" dirty="0"/>
              <a:t>    Number of unique mutations present across species: 4</a:t>
            </a:r>
          </a:p>
          <a:p>
            <a:r>
              <a:rPr lang="en-US" sz="1200" dirty="0"/>
              <a:t>    Number of resistant species: 3189</a:t>
            </a:r>
          </a:p>
          <a:p>
            <a:r>
              <a:rPr lang="en-US" sz="1200" dirty="0"/>
              <a:t>    Percentage of resistant species: 24.31%</a:t>
            </a:r>
          </a:p>
          <a:p>
            <a:r>
              <a:rPr lang="en-US" sz="1200" dirty="0"/>
              <a:t>    Number of species with multiple resistance mutations: 1963</a:t>
            </a:r>
          </a:p>
          <a:p>
            <a:r>
              <a:rPr lang="en-US" sz="1200" dirty="0"/>
              <a:t>    Number of species where one </a:t>
            </a:r>
            <a:r>
              <a:rPr lang="en-US" sz="1200" dirty="0" err="1"/>
              <a:t>rrs</a:t>
            </a:r>
            <a:r>
              <a:rPr lang="en-US" sz="1200" dirty="0"/>
              <a:t> copy confers resistance and one does not: 378</a:t>
            </a:r>
          </a:p>
        </p:txBody>
      </p:sp>
    </p:spTree>
    <p:extLst>
      <p:ext uri="{BB962C8B-B14F-4D97-AF65-F5344CB8AC3E}">
        <p14:creationId xmlns:p14="http://schemas.microsoft.com/office/powerpoint/2010/main" val="307787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B53F3-BD8F-8ECE-6915-29056BB6BF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12</a:t>
            </a:fld>
            <a:endParaRPr lang="en-AU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C4039AE-4C99-4A56-3C33-3E61F226343F}"/>
              </a:ext>
            </a:extLst>
          </p:cNvPr>
          <p:cNvSpPr txBox="1">
            <a:spLocks/>
          </p:cNvSpPr>
          <p:nvPr/>
        </p:nvSpPr>
        <p:spPr>
          <a:xfrm>
            <a:off x="695326" y="944290"/>
            <a:ext cx="3267074" cy="50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Multiple copies - Mutation screen for each site (Case 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4A94D-F932-E844-E91E-2AE9F4A7C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907" y="-36544"/>
            <a:ext cx="8364893" cy="697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7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02F0-13DE-67C1-DF63-626BF6DF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64BA4B-31CC-AF00-622E-A7480FFC3D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13</a:t>
            </a:fld>
            <a:endParaRPr lang="en-AU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BEAF141-CA31-0112-773C-C40D2DFBFCE4}"/>
              </a:ext>
            </a:extLst>
          </p:cNvPr>
          <p:cNvSpPr txBox="1">
            <a:spLocks/>
          </p:cNvSpPr>
          <p:nvPr/>
        </p:nvSpPr>
        <p:spPr>
          <a:xfrm>
            <a:off x="609600" y="609600"/>
            <a:ext cx="9591674" cy="50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How similarity these copies at mutation sites?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33BEE0-28B9-B837-9680-A7EF53C5E92A}"/>
              </a:ext>
            </a:extLst>
          </p:cNvPr>
          <p:cNvSpPr txBox="1"/>
          <p:nvPr/>
        </p:nvSpPr>
        <p:spPr>
          <a:xfrm>
            <a:off x="695326" y="1676400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N&gt;1 copies: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All copies have the mutation.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All copies don’t have the mutation.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Some copies have; some don’t.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1B3E4-17D1-722F-7E39-F67428F1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93589"/>
            <a:ext cx="5029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3DA162-F0CA-1A75-5581-61D497D4B1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DD632-34BF-0744-B4FA-B9817A5318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02D21-D3A0-2016-89D1-134422386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143000"/>
            <a:ext cx="6400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8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CF491D-7C53-B210-9E30-526633084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DC40C-4D7B-8B00-149D-AF6E6A2B2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78345"/>
            <a:ext cx="8398835" cy="5039301"/>
          </a:xfrm>
          <a:prstGeom prst="rect">
            <a:avLst/>
          </a:prstGeom>
        </p:spPr>
      </p:pic>
      <p:pic>
        <p:nvPicPr>
          <p:cNvPr id="7" name="Picture 6" descr="A diagram of a number and a circle&#10;&#10;AI-generated content may be incorrect.">
            <a:extLst>
              <a:ext uri="{FF2B5EF4-FFF2-40B4-BE49-F238E27FC236}">
                <a16:creationId xmlns:a16="http://schemas.microsoft.com/office/drawing/2014/main" id="{6D41B9A7-1434-57F4-0F2A-B2790326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7400"/>
            <a:ext cx="3055938" cy="2667000"/>
          </a:xfrm>
          <a:prstGeom prst="rect">
            <a:avLst/>
          </a:pr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915CD74F-D998-5A32-DBEE-32836DA66A62}"/>
              </a:ext>
            </a:extLst>
          </p:cNvPr>
          <p:cNvSpPr txBox="1">
            <a:spLocks/>
          </p:cNvSpPr>
          <p:nvPr/>
        </p:nvSpPr>
        <p:spPr>
          <a:xfrm>
            <a:off x="381000" y="551798"/>
            <a:ext cx="5857873" cy="50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/>
              <a:t>rrs</a:t>
            </a:r>
            <a:r>
              <a:rPr lang="en-US" sz="3200" dirty="0"/>
              <a:t> vs </a:t>
            </a:r>
            <a:r>
              <a:rPr lang="en-US" sz="3200" dirty="0" err="1"/>
              <a:t>rpsL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243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90ABC6-07D3-1733-0180-80EC02699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16</a:t>
            </a:fld>
            <a:endParaRPr lang="en-AU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AECA6CA0-8591-4A44-866D-9A5AA784876E}"/>
              </a:ext>
            </a:extLst>
          </p:cNvPr>
          <p:cNvSpPr txBox="1">
            <a:spLocks/>
          </p:cNvSpPr>
          <p:nvPr/>
        </p:nvSpPr>
        <p:spPr>
          <a:xfrm>
            <a:off x="695326" y="763200"/>
            <a:ext cx="5857873" cy="50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Problem: </a:t>
            </a:r>
            <a:r>
              <a:rPr lang="en-US" sz="3200" dirty="0" err="1"/>
              <a:t>EvolvabilityI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18FD9-D784-DE96-9E66-DB20FED52DB2}"/>
              </a:ext>
            </a:extLst>
          </p:cNvPr>
          <p:cNvSpPr txBox="1"/>
          <p:nvPr/>
        </p:nvSpPr>
        <p:spPr>
          <a:xfrm>
            <a:off x="695326" y="1478284"/>
            <a:ext cx="60977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get_species_output_nt</a:t>
            </a:r>
            <a:r>
              <a:rPr lang="en-US" sz="1200" dirty="0"/>
              <a:t> &lt;- function(output) {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species_output</a:t>
            </a:r>
            <a:r>
              <a:rPr lang="en-US" sz="1200" dirty="0"/>
              <a:t> &lt;-  output |&gt;</a:t>
            </a:r>
          </a:p>
          <a:p>
            <a:r>
              <a:rPr lang="en-US" sz="1200" dirty="0"/>
              <a:t>    # step 1: merge multiple gene copies into one: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group_by</a:t>
            </a:r>
            <a:r>
              <a:rPr lang="en-US" sz="1200" dirty="0"/>
              <a:t>(species, genus, </a:t>
            </a:r>
            <a:r>
              <a:rPr lang="en-US" sz="1200" dirty="0" err="1"/>
              <a:t>accession_numbers</a:t>
            </a:r>
            <a:r>
              <a:rPr lang="en-US" sz="1200" dirty="0"/>
              <a:t>, </a:t>
            </a:r>
            <a:r>
              <a:rPr lang="en-US" sz="1200" dirty="0" err="1"/>
              <a:t>mutation_name</a:t>
            </a:r>
            <a:r>
              <a:rPr lang="en-US" sz="1200" dirty="0"/>
              <a:t>) |&gt;</a:t>
            </a:r>
          </a:p>
          <a:p>
            <a:r>
              <a:rPr lang="en-US" sz="1200" dirty="0"/>
              <a:t>    </a:t>
            </a:r>
            <a:r>
              <a:rPr lang="en-US" sz="1200" dirty="0" err="1">
                <a:solidFill>
                  <a:srgbClr val="FF0000"/>
                </a:solidFill>
              </a:rPr>
              <a:t>summarise</a:t>
            </a:r>
            <a:r>
              <a:rPr lang="en-US" sz="1200" dirty="0">
                <a:solidFill>
                  <a:srgbClr val="FF0000"/>
                </a:solidFill>
              </a:rPr>
              <a:t>(</a:t>
            </a:r>
            <a:r>
              <a:rPr lang="en-US" sz="1200" dirty="0" err="1">
                <a:solidFill>
                  <a:srgbClr val="FF0000"/>
                </a:solidFill>
              </a:rPr>
              <a:t>mutation_category</a:t>
            </a:r>
            <a:r>
              <a:rPr lang="en-US" sz="1200" dirty="0">
                <a:solidFill>
                  <a:srgbClr val="FF0000"/>
                </a:solidFill>
              </a:rPr>
              <a:t> = </a:t>
            </a:r>
            <a:r>
              <a:rPr lang="en-US" sz="1200" dirty="0" err="1">
                <a:solidFill>
                  <a:srgbClr val="FF0000"/>
                </a:solidFill>
              </a:rPr>
              <a:t>ifelse</a:t>
            </a:r>
            <a:r>
              <a:rPr lang="en-US" sz="1200" dirty="0">
                <a:solidFill>
                  <a:srgbClr val="FF0000"/>
                </a:solidFill>
              </a:rPr>
              <a:t>(any(</a:t>
            </a:r>
            <a:r>
              <a:rPr lang="en-US" sz="1200" dirty="0" err="1">
                <a:solidFill>
                  <a:srgbClr val="FF0000"/>
                </a:solidFill>
              </a:rPr>
              <a:t>mutation_category</a:t>
            </a:r>
            <a:r>
              <a:rPr lang="en-US" sz="1200" dirty="0">
                <a:solidFill>
                  <a:srgbClr val="FF0000"/>
                </a:solidFill>
              </a:rPr>
              <a:t> == "present"),</a:t>
            </a:r>
          </a:p>
          <a:p>
            <a:r>
              <a:rPr lang="en-US" sz="1200" dirty="0">
                <a:solidFill>
                  <a:srgbClr val="FF0000"/>
                </a:solidFill>
              </a:rPr>
              <a:t>                                         "present",</a:t>
            </a:r>
          </a:p>
          <a:p>
            <a:r>
              <a:rPr lang="en-US" sz="1200" dirty="0">
                <a:solidFill>
                  <a:srgbClr val="FF0000"/>
                </a:solidFill>
              </a:rPr>
              <a:t>                                         </a:t>
            </a:r>
            <a:r>
              <a:rPr lang="en-US" sz="1200" dirty="0" err="1">
                <a:solidFill>
                  <a:srgbClr val="FF0000"/>
                </a:solidFill>
              </a:rPr>
              <a:t>ifelse</a:t>
            </a:r>
            <a:r>
              <a:rPr lang="en-US" sz="1200" dirty="0">
                <a:solidFill>
                  <a:srgbClr val="FF0000"/>
                </a:solidFill>
              </a:rPr>
              <a:t>(any(</a:t>
            </a:r>
            <a:r>
              <a:rPr lang="en-US" sz="1200" dirty="0" err="1">
                <a:solidFill>
                  <a:srgbClr val="FF0000"/>
                </a:solidFill>
              </a:rPr>
              <a:t>mutation_category</a:t>
            </a:r>
            <a:r>
              <a:rPr lang="en-US" sz="1200" dirty="0">
                <a:solidFill>
                  <a:srgbClr val="FF0000"/>
                </a:solidFill>
              </a:rPr>
              <a:t> == "possible"), "possible", "impossible")),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n_possible</a:t>
            </a:r>
            <a:r>
              <a:rPr lang="en-US" sz="1200" dirty="0"/>
              <a:t> = sum(</a:t>
            </a:r>
            <a:r>
              <a:rPr lang="en-US" sz="1200" dirty="0" err="1"/>
              <a:t>n_possible</a:t>
            </a:r>
            <a:r>
              <a:rPr lang="en-US" sz="1200" dirty="0"/>
              <a:t>),</a:t>
            </a:r>
          </a:p>
          <a:p>
            <a:r>
              <a:rPr lang="en-US" sz="1200" dirty="0"/>
              <a:t>              .groups = "drop") |&gt;</a:t>
            </a:r>
          </a:p>
          <a:p>
            <a:r>
              <a:rPr lang="en-US" sz="1200" dirty="0"/>
              <a:t>    # step 2: </a:t>
            </a:r>
            <a:r>
              <a:rPr lang="en-US" sz="1200" dirty="0" err="1"/>
              <a:t>summarise</a:t>
            </a:r>
            <a:r>
              <a:rPr lang="en-US" sz="1200" dirty="0"/>
              <a:t> across all screened mutations: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group_by</a:t>
            </a:r>
            <a:r>
              <a:rPr lang="en-US" sz="1200" dirty="0"/>
              <a:t>(species, genus, </a:t>
            </a:r>
            <a:r>
              <a:rPr lang="en-US" sz="1200" dirty="0" err="1"/>
              <a:t>accession_numbers</a:t>
            </a:r>
            <a:r>
              <a:rPr lang="en-US" sz="1200" dirty="0"/>
              <a:t>) |&gt;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summarise</a:t>
            </a:r>
            <a:r>
              <a:rPr lang="en-US" sz="1200" dirty="0"/>
              <a:t>(resistance = any(</a:t>
            </a:r>
            <a:r>
              <a:rPr lang="en-US" sz="1200" dirty="0" err="1"/>
              <a:t>mutation_category</a:t>
            </a:r>
            <a:r>
              <a:rPr lang="en-US" sz="1200" dirty="0"/>
              <a:t> == "present"),</a:t>
            </a:r>
          </a:p>
          <a:p>
            <a:r>
              <a:rPr lang="en-US" sz="1200" dirty="0">
                <a:solidFill>
                  <a:srgbClr val="FF0000"/>
                </a:solidFill>
              </a:rPr>
              <a:t>              </a:t>
            </a:r>
            <a:r>
              <a:rPr lang="en-US" sz="1200" dirty="0" err="1">
                <a:solidFill>
                  <a:srgbClr val="FF0000"/>
                </a:solidFill>
              </a:rPr>
              <a:t>evolvabilityI</a:t>
            </a:r>
            <a:r>
              <a:rPr lang="en-US" sz="1200" dirty="0">
                <a:solidFill>
                  <a:srgbClr val="FF0000"/>
                </a:solidFill>
              </a:rPr>
              <a:t> = sum(</a:t>
            </a:r>
            <a:r>
              <a:rPr lang="en-US" sz="1200" dirty="0" err="1">
                <a:solidFill>
                  <a:srgbClr val="FF0000"/>
                </a:solidFill>
              </a:rPr>
              <a:t>mutation_category</a:t>
            </a:r>
            <a:r>
              <a:rPr lang="en-US" sz="1200" dirty="0">
                <a:solidFill>
                  <a:srgbClr val="FF0000"/>
                </a:solidFill>
              </a:rPr>
              <a:t> == "possible"),</a:t>
            </a:r>
          </a:p>
          <a:p>
            <a:r>
              <a:rPr lang="en-US" sz="1200" dirty="0"/>
              <a:t>              # </a:t>
            </a:r>
            <a:r>
              <a:rPr lang="en-US" sz="1200" dirty="0" err="1"/>
              <a:t>evolvabilityII</a:t>
            </a:r>
            <a:r>
              <a:rPr lang="en-US" sz="1200" dirty="0"/>
              <a:t> = sum(</a:t>
            </a:r>
            <a:r>
              <a:rPr lang="en-US" sz="1200" dirty="0" err="1"/>
              <a:t>n_possible</a:t>
            </a:r>
            <a:r>
              <a:rPr lang="en-US" sz="1200" dirty="0"/>
              <a:t>),</a:t>
            </a:r>
          </a:p>
          <a:p>
            <a:r>
              <a:rPr lang="en-US" sz="1200" dirty="0"/>
              <a:t>              .groups = "drop") |&gt;</a:t>
            </a:r>
          </a:p>
          <a:p>
            <a:r>
              <a:rPr lang="en-US" sz="1200" dirty="0"/>
              <a:t>    # step 3: discard sequences in cases where there are &gt;1 genome per species: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group_by</a:t>
            </a:r>
            <a:r>
              <a:rPr lang="en-US" sz="1200" dirty="0"/>
              <a:t>(species, genus) |&gt;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summarise</a:t>
            </a:r>
            <a:r>
              <a:rPr lang="en-US" sz="1200" dirty="0"/>
              <a:t>(resistance = </a:t>
            </a:r>
            <a:r>
              <a:rPr lang="en-US" sz="1200" dirty="0" err="1"/>
              <a:t>dplyr</a:t>
            </a:r>
            <a:r>
              <a:rPr lang="en-US" sz="1200" dirty="0"/>
              <a:t>::first(resistance),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evolvabilityI</a:t>
            </a:r>
            <a:r>
              <a:rPr lang="en-US" sz="1200" dirty="0"/>
              <a:t> = </a:t>
            </a:r>
            <a:r>
              <a:rPr lang="en-US" sz="1200" dirty="0" err="1"/>
              <a:t>dplyr</a:t>
            </a:r>
            <a:r>
              <a:rPr lang="en-US" sz="1200" dirty="0"/>
              <a:t>::first(</a:t>
            </a:r>
            <a:r>
              <a:rPr lang="en-US" sz="1200" dirty="0" err="1"/>
              <a:t>evolvabilityI</a:t>
            </a:r>
            <a:r>
              <a:rPr lang="en-US" sz="1200" dirty="0"/>
              <a:t>),</a:t>
            </a:r>
          </a:p>
          <a:p>
            <a:r>
              <a:rPr lang="en-US" sz="1200" dirty="0"/>
              <a:t>              # </a:t>
            </a:r>
            <a:r>
              <a:rPr lang="en-US" sz="1200" dirty="0" err="1"/>
              <a:t>evolvabilityII</a:t>
            </a:r>
            <a:r>
              <a:rPr lang="en-US" sz="1200" dirty="0"/>
              <a:t> = </a:t>
            </a:r>
            <a:r>
              <a:rPr lang="en-US" sz="1200" dirty="0" err="1"/>
              <a:t>dplyr</a:t>
            </a:r>
            <a:r>
              <a:rPr lang="en-US" sz="1200" dirty="0"/>
              <a:t>::first(</a:t>
            </a:r>
            <a:r>
              <a:rPr lang="en-US" sz="1200" dirty="0" err="1"/>
              <a:t>evolvabilityII</a:t>
            </a:r>
            <a:r>
              <a:rPr lang="en-US" sz="1200" dirty="0"/>
              <a:t>),</a:t>
            </a:r>
          </a:p>
          <a:p>
            <a:r>
              <a:rPr lang="en-US" sz="1200" dirty="0"/>
              <a:t>              .groups = "drop") |&gt;</a:t>
            </a:r>
          </a:p>
          <a:p>
            <a:r>
              <a:rPr lang="en-US" sz="1200" dirty="0"/>
              <a:t>    # step 4: turn resistance column into categorical:</a:t>
            </a:r>
          </a:p>
          <a:p>
            <a:r>
              <a:rPr lang="en-US" sz="1200" dirty="0"/>
              <a:t>    mutate(resistance = </a:t>
            </a:r>
            <a:r>
              <a:rPr lang="en-US" sz="1200" dirty="0" err="1"/>
              <a:t>ifelse</a:t>
            </a:r>
            <a:r>
              <a:rPr lang="en-US" sz="1200" dirty="0"/>
              <a:t>(resistance, "resistant", "susceptible"))</a:t>
            </a:r>
          </a:p>
          <a:p>
            <a:r>
              <a:rPr lang="en-US" sz="1200" dirty="0"/>
              <a:t>  return(</a:t>
            </a:r>
            <a:r>
              <a:rPr lang="en-US" sz="1200" dirty="0" err="1"/>
              <a:t>species_output</a:t>
            </a:r>
            <a:r>
              <a:rPr lang="en-US" sz="1200" dirty="0"/>
              <a:t>)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2FF58-BFEF-D320-2C74-44034068898B}"/>
              </a:ext>
            </a:extLst>
          </p:cNvPr>
          <p:cNvSpPr txBox="1"/>
          <p:nvPr/>
        </p:nvSpPr>
        <p:spPr>
          <a:xfrm>
            <a:off x="6905018" y="2133600"/>
            <a:ext cx="33425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1"/>
                </a:solidFill>
              </a:rPr>
              <a:t>rrs</a:t>
            </a:r>
            <a:r>
              <a:rPr lang="en-US" sz="1200" dirty="0">
                <a:solidFill>
                  <a:schemeClr val="accent1"/>
                </a:solidFill>
              </a:rPr>
              <a:t> genomes has multiple copies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200" dirty="0">
                <a:solidFill>
                  <a:schemeClr val="accent1"/>
                </a:solidFill>
              </a:rPr>
              <a:t>one copy contains a </a:t>
            </a:r>
            <a:r>
              <a:rPr lang="en-US" sz="1200" i="1" dirty="0">
                <a:solidFill>
                  <a:schemeClr val="accent1"/>
                </a:solidFill>
              </a:rPr>
              <a:t>present</a:t>
            </a:r>
            <a:r>
              <a:rPr lang="en-US" sz="1200" dirty="0">
                <a:solidFill>
                  <a:schemeClr val="accent1"/>
                </a:solidFill>
              </a:rPr>
              <a:t> mutation while 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200" dirty="0">
                <a:solidFill>
                  <a:schemeClr val="accent1"/>
                </a:solidFill>
              </a:rPr>
              <a:t>another copy has a </a:t>
            </a:r>
            <a:r>
              <a:rPr lang="en-US" sz="1200" i="1" dirty="0">
                <a:solidFill>
                  <a:schemeClr val="accent1"/>
                </a:solidFill>
              </a:rPr>
              <a:t>possible</a:t>
            </a:r>
            <a:r>
              <a:rPr lang="en-US" sz="1200" dirty="0">
                <a:solidFill>
                  <a:schemeClr val="accent1"/>
                </a:solidFill>
              </a:rPr>
              <a:t> mutation.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200" dirty="0">
              <a:solidFill>
                <a:schemeClr val="accent1"/>
              </a:solidFill>
            </a:endParaRPr>
          </a:p>
          <a:p>
            <a:endParaRPr 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03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20438</TotalTime>
  <Words>808</Words>
  <Application>Microsoft Macintosh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DM Sans</vt:lpstr>
      <vt:lpstr>Gotham Book</vt:lpstr>
      <vt:lpstr>Gotham Medium</vt:lpstr>
      <vt:lpstr>Symbol</vt:lpstr>
      <vt:lpstr>University of Queensland</vt:lpstr>
      <vt:lpstr>Project Update:  rrs gene</vt:lpstr>
      <vt:lpstr>Step 5: Processing and filtering of raw output </vt:lpstr>
      <vt:lpstr>Case 1</vt:lpstr>
      <vt:lpstr>Case 2</vt:lpstr>
      <vt:lpstr>Case 3</vt:lpstr>
      <vt:lpstr>Case 4</vt:lpstr>
      <vt:lpstr>PowerPoint Presentation</vt:lpstr>
      <vt:lpstr>Step 6: Analysis of results</vt:lpstr>
      <vt:lpstr>Step 6: Analysis of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Na Ngo</dc:creator>
  <cp:lastModifiedBy>Le Na Ngo</cp:lastModifiedBy>
  <cp:revision>13</cp:revision>
  <dcterms:created xsi:type="dcterms:W3CDTF">2025-04-21T08:02:23Z</dcterms:created>
  <dcterms:modified xsi:type="dcterms:W3CDTF">2025-08-23T07:09:20Z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